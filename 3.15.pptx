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oleObject" Target="../embeddings/oleObject1.bin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026410" y="1002030"/>
            <a:ext cx="5967730" cy="4808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/>
              <a:t>实验室项目执行规范与注意事项：</a:t>
            </a:r>
            <a:endParaRPr lang="zh-CN" altLang="en-US" sz="3200"/>
          </a:p>
          <a:p>
            <a:r>
              <a:rPr lang="en-US" altLang="zh-CN" sz="2400"/>
              <a:t>1</a:t>
            </a:r>
            <a:r>
              <a:rPr lang="zh-CN" altLang="en-US" sz="2400"/>
              <a:t>，开发工具的</a:t>
            </a:r>
            <a:r>
              <a:rPr lang="zh-CN" altLang="en-US" sz="2400"/>
              <a:t>选择</a:t>
            </a:r>
            <a:endParaRPr lang="zh-CN" altLang="en-US" sz="2400"/>
          </a:p>
          <a:p>
            <a:endParaRPr lang="zh-CN" altLang="en-US" sz="2400"/>
          </a:p>
          <a:p>
            <a:r>
              <a:rPr lang="en-US" altLang="zh-CN" sz="2400"/>
              <a:t>2</a:t>
            </a:r>
            <a:r>
              <a:rPr lang="zh-CN" altLang="en-US" sz="2400"/>
              <a:t>，开发环境的注意</a:t>
            </a:r>
            <a:r>
              <a:rPr lang="zh-CN" altLang="en-US" sz="2400"/>
              <a:t>事项</a:t>
            </a:r>
            <a:endParaRPr lang="zh-CN" altLang="en-US" sz="2400"/>
          </a:p>
          <a:p>
            <a:endParaRPr lang="zh-CN" altLang="en-US" sz="2400"/>
          </a:p>
          <a:p>
            <a:r>
              <a:rPr lang="en-US" altLang="zh-CN" sz="2400"/>
              <a:t>3</a:t>
            </a:r>
            <a:r>
              <a:rPr lang="zh-CN" altLang="en-US" sz="2400"/>
              <a:t>，代码的储存与版本</a:t>
            </a:r>
            <a:r>
              <a:rPr lang="zh-CN" altLang="en-US" sz="2400"/>
              <a:t>管理</a:t>
            </a:r>
            <a:endParaRPr lang="zh-CN" altLang="en-US" sz="2400"/>
          </a:p>
          <a:p>
            <a:endParaRPr lang="zh-CN" altLang="en-US" sz="2400"/>
          </a:p>
          <a:p>
            <a:r>
              <a:rPr lang="en-US" altLang="zh-CN" sz="2400"/>
              <a:t>4</a:t>
            </a:r>
            <a:r>
              <a:rPr lang="zh-CN" altLang="en-US" sz="2400"/>
              <a:t>，开发书写</a:t>
            </a:r>
            <a:r>
              <a:rPr lang="zh-CN" altLang="en-US" sz="2400"/>
              <a:t>规范</a:t>
            </a:r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pPr marL="2743200" lvl="6" indent="457200"/>
            <a:r>
              <a:rPr lang="zh-CN" altLang="en-US" sz="2400"/>
              <a:t>主编辑：王粒</a:t>
            </a:r>
            <a:r>
              <a:rPr lang="zh-CN" altLang="en-US" sz="2400"/>
              <a:t>安</a:t>
            </a:r>
            <a:endParaRPr lang="zh-CN" alt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67640" y="0"/>
            <a:ext cx="12024360" cy="6858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/>
              <a:t>1</a:t>
            </a:r>
            <a:r>
              <a:rPr lang="zh-CN" altLang="en-US" sz="2800"/>
              <a:t>开发工具：</a:t>
            </a:r>
            <a:endParaRPr lang="zh-CN" altLang="en-US" sz="2800"/>
          </a:p>
          <a:p>
            <a:pPr indent="457200"/>
            <a:r>
              <a:rPr lang="zh-CN" altLang="en-US" sz="2000"/>
              <a:t>由于</a:t>
            </a:r>
            <a:r>
              <a:rPr lang="en-US" altLang="zh-CN" sz="2000"/>
              <a:t>AI</a:t>
            </a:r>
            <a:r>
              <a:rPr lang="zh-CN" altLang="en-US" sz="2000"/>
              <a:t>编程环境的快速更新迭代，</a:t>
            </a:r>
            <a:r>
              <a:rPr lang="en-US" altLang="zh-CN" sz="2000"/>
              <a:t>AI</a:t>
            </a:r>
            <a:r>
              <a:rPr lang="zh-CN" altLang="en-US" sz="2000"/>
              <a:t>编程已经渐渐融入日常开发，传统的古法编程显得笨重和低效，对于新的技术对于开发者来说需要更多的尝试与创新，固步自封只会被淘汰，对于日益进步的</a:t>
            </a:r>
            <a:r>
              <a:rPr lang="en-US" altLang="zh-CN" sz="2000"/>
              <a:t>AI</a:t>
            </a:r>
            <a:r>
              <a:rPr lang="zh-CN" altLang="en-US" sz="2000"/>
              <a:t>模型我们需要掌握如何更好的去使用和优化自己的工作流，让日常开发更高效与高</a:t>
            </a:r>
            <a:r>
              <a:rPr lang="zh-CN" altLang="en-US" sz="2000"/>
              <a:t>质量。</a:t>
            </a:r>
            <a:endParaRPr lang="zh-CN" altLang="en-US" sz="2000"/>
          </a:p>
          <a:p>
            <a:pPr indent="457200"/>
            <a:endParaRPr lang="zh-CN" altLang="en-US" sz="2000"/>
          </a:p>
          <a:p>
            <a:pPr indent="457200"/>
            <a:r>
              <a:rPr lang="zh-CN" altLang="en-US" sz="2000"/>
              <a:t>目前国内的</a:t>
            </a:r>
            <a:r>
              <a:rPr lang="en-US" altLang="zh-CN" sz="2000"/>
              <a:t>AI</a:t>
            </a:r>
            <a:r>
              <a:rPr lang="zh-CN" altLang="en-US" sz="2000"/>
              <a:t>模型侧重基座模型的追赶，对于</a:t>
            </a:r>
            <a:r>
              <a:rPr lang="en-US" altLang="zh-CN" sz="2000"/>
              <a:t>chatgpt</a:t>
            </a:r>
            <a:r>
              <a:rPr lang="zh-CN" altLang="en-US" sz="2000"/>
              <a:t>，</a:t>
            </a:r>
            <a:r>
              <a:rPr lang="en-US" altLang="zh-CN" sz="2000"/>
              <a:t>claude code</a:t>
            </a:r>
            <a:r>
              <a:rPr lang="zh-CN" altLang="en-US" sz="2000"/>
              <a:t>，</a:t>
            </a:r>
            <a:r>
              <a:rPr lang="en-US" altLang="zh-CN" sz="2000"/>
              <a:t>gemini</a:t>
            </a:r>
            <a:r>
              <a:rPr lang="zh-CN" altLang="en-US" sz="2000"/>
              <a:t>等厂商的</a:t>
            </a:r>
            <a:r>
              <a:rPr lang="en-US" altLang="zh-CN" sz="2000"/>
              <a:t>agnet</a:t>
            </a:r>
            <a:r>
              <a:rPr lang="zh-CN" altLang="en-US" sz="2000"/>
              <a:t>应用模型来说国内</a:t>
            </a:r>
            <a:r>
              <a:rPr lang="en-US" altLang="zh-CN" sz="2000"/>
              <a:t>AI</a:t>
            </a:r>
            <a:r>
              <a:rPr lang="zh-CN" altLang="en-US" sz="2000"/>
              <a:t>处于一个弱势状态，从需求分析，代码构建，</a:t>
            </a:r>
            <a:r>
              <a:rPr lang="en-US" altLang="zh-CN" sz="2000"/>
              <a:t>debug</a:t>
            </a:r>
            <a:r>
              <a:rPr lang="zh-CN" altLang="en-US" sz="2000"/>
              <a:t>，优化多方面来说国外模型目前依然是开发者的青睐对象，但是不友好的说在国内使用国外模型存在较高的门槛：国内需要</a:t>
            </a:r>
            <a:r>
              <a:rPr lang="en-US" altLang="zh-CN" sz="2000"/>
              <a:t>VPN</a:t>
            </a:r>
            <a:r>
              <a:rPr lang="zh-CN" altLang="en-US" sz="2000"/>
              <a:t>才能实现国外服务器的访问且需要纯净的</a:t>
            </a:r>
            <a:r>
              <a:rPr lang="en-US" altLang="zh-CN" sz="2000"/>
              <a:t>vpn</a:t>
            </a:r>
            <a:r>
              <a:rPr lang="zh-CN" altLang="en-US" sz="2000"/>
              <a:t>节点，比如</a:t>
            </a:r>
            <a:r>
              <a:rPr lang="en-US" altLang="zh-CN" sz="2000"/>
              <a:t>chatgpt</a:t>
            </a:r>
            <a:r>
              <a:rPr lang="zh-CN" altLang="en-US" sz="2000"/>
              <a:t>，</a:t>
            </a:r>
            <a:r>
              <a:rPr lang="en-US" altLang="zh-CN" sz="2000"/>
              <a:t>cluade code</a:t>
            </a:r>
            <a:r>
              <a:rPr lang="zh-CN" altLang="en-US" sz="2000"/>
              <a:t>，</a:t>
            </a:r>
            <a:r>
              <a:rPr lang="en-US" altLang="zh-CN" sz="2000"/>
              <a:t>gemini</a:t>
            </a:r>
            <a:r>
              <a:rPr lang="zh-CN" altLang="en-US" sz="2000"/>
              <a:t>都对部分节点开发，需要选择好的</a:t>
            </a:r>
            <a:r>
              <a:rPr lang="en-US" altLang="zh-CN" sz="2000"/>
              <a:t>vpn</a:t>
            </a:r>
            <a:r>
              <a:rPr lang="zh-CN" altLang="en-US" sz="2000"/>
              <a:t>代理；能够访问也存在只能使用他们的基本模型，性能较低，存在使用限制，数据会被厂商用于模型的二次训练存在数据泄漏的风险，所以想要高效的利用</a:t>
            </a:r>
            <a:r>
              <a:rPr lang="en-US" altLang="zh-CN" sz="2000"/>
              <a:t>AI</a:t>
            </a:r>
            <a:r>
              <a:rPr lang="zh-CN" altLang="en-US" sz="2000"/>
              <a:t>需要开通相关的订阅</a:t>
            </a:r>
            <a:r>
              <a:rPr lang="zh-CN" altLang="en-US" sz="2000"/>
              <a:t>服务</a:t>
            </a:r>
            <a:endParaRPr lang="zh-CN" altLang="en-US" sz="2000"/>
          </a:p>
          <a:p>
            <a:pPr indent="457200"/>
            <a:endParaRPr lang="zh-CN" altLang="en-US" sz="2000"/>
          </a:p>
          <a:p>
            <a:pPr indent="457200"/>
            <a:r>
              <a:rPr lang="zh-CN" altLang="en-US" sz="2000"/>
              <a:t>目前建议服务</a:t>
            </a:r>
            <a:r>
              <a:rPr lang="en-US" altLang="zh-CN" sz="2000"/>
              <a:t>chatgpt plus/Business(</a:t>
            </a:r>
            <a:r>
              <a:rPr lang="zh-CN" altLang="en-US" sz="2000"/>
              <a:t>平均</a:t>
            </a:r>
            <a:r>
              <a:rPr lang="en-US" altLang="zh-CN" sz="2000"/>
              <a:t>30</a:t>
            </a:r>
            <a:r>
              <a:rPr lang="zh-CN" altLang="en-US" sz="2000"/>
              <a:t>美刀</a:t>
            </a:r>
            <a:r>
              <a:rPr lang="en-US" altLang="zh-CN" sz="2000"/>
              <a:t>/</a:t>
            </a:r>
            <a:r>
              <a:rPr lang="zh-CN" altLang="en-US" sz="2000"/>
              <a:t>月），支持多账号，访问量和快速的特点，可以选择更智能的模型且会保护用户数据隐私，并且支持大额度的专业开发智能体</a:t>
            </a:r>
            <a:r>
              <a:rPr lang="en-US" altLang="zh-CN" sz="2000"/>
              <a:t>codex</a:t>
            </a:r>
            <a:r>
              <a:rPr lang="zh-CN" altLang="en-US" sz="2000"/>
              <a:t>，可以让小白也能</a:t>
            </a:r>
            <a:r>
              <a:rPr lang="en-US" altLang="zh-CN" sz="2000"/>
              <a:t>0</a:t>
            </a:r>
            <a:r>
              <a:rPr lang="zh-CN" altLang="en-US" sz="2000"/>
              <a:t>基础开发</a:t>
            </a:r>
            <a:r>
              <a:rPr lang="en-US" altLang="zh-CN" sz="2000"/>
              <a:t>web</a:t>
            </a:r>
            <a:r>
              <a:rPr lang="zh-CN" altLang="en-US" sz="2000"/>
              <a:t>应用为咋们的算法外壳赋能，除了贵没啥缺点，但存在国内用户难以订阅的缺点（需要境外银行卡订阅），但不用担心，我已经为大家解决了</a:t>
            </a:r>
            <a:endParaRPr lang="zh-CN" altLang="en-US" sz="2000"/>
          </a:p>
          <a:p>
            <a:pPr indent="457200"/>
            <a:endParaRPr lang="zh-CN" altLang="en-US" sz="2000"/>
          </a:p>
          <a:p>
            <a:pPr indent="457200"/>
            <a:r>
              <a:rPr lang="zh-CN" altLang="en-US" sz="2000"/>
              <a:t>对于</a:t>
            </a:r>
            <a:r>
              <a:rPr lang="en-US" altLang="zh-CN" sz="2000"/>
              <a:t>claude code</a:t>
            </a:r>
            <a:r>
              <a:rPr lang="zh-CN" altLang="en-US" sz="2000"/>
              <a:t>和</a:t>
            </a:r>
            <a:r>
              <a:rPr lang="en-US" altLang="zh-CN" sz="2000"/>
              <a:t>gemini</a:t>
            </a:r>
            <a:r>
              <a:rPr lang="zh-CN" altLang="en-US" sz="2000"/>
              <a:t>对国内用户十分不友好，</a:t>
            </a:r>
            <a:r>
              <a:rPr lang="en-US" altLang="zh-CN" sz="2000">
                <a:sym typeface="+mn-ea"/>
              </a:rPr>
              <a:t>claude code</a:t>
            </a:r>
            <a:r>
              <a:rPr lang="zh-CN" altLang="en-US" sz="2000"/>
              <a:t>直接从账号层面就阻断访问，</a:t>
            </a:r>
            <a:r>
              <a:rPr lang="en-US" altLang="zh-CN" sz="2000"/>
              <a:t>gemini</a:t>
            </a:r>
            <a:r>
              <a:rPr lang="zh-CN" altLang="en-US" sz="2000"/>
              <a:t>则从多角度包括</a:t>
            </a:r>
            <a:r>
              <a:rPr lang="en-US" altLang="zh-CN" sz="2000"/>
              <a:t>ip</a:t>
            </a:r>
            <a:r>
              <a:rPr lang="zh-CN" altLang="en-US" sz="2000"/>
              <a:t>，时区，邮箱，手机号等多维度去标记账号从而禁止订阅服务，所以</a:t>
            </a:r>
            <a:r>
              <a:rPr lang="en-US" altLang="zh-CN" sz="2000"/>
              <a:t>chatgpt</a:t>
            </a:r>
            <a:r>
              <a:rPr lang="zh-CN" altLang="en-US" sz="2000"/>
              <a:t>任然是最优选</a:t>
            </a:r>
            <a:endParaRPr lang="zh-CN" altLang="en-US" sz="2000"/>
          </a:p>
          <a:p>
            <a:pPr indent="457200"/>
            <a:r>
              <a:rPr lang="zh-CN" altLang="en-US" sz="2000"/>
              <a:t>总结：</a:t>
            </a:r>
            <a:r>
              <a:rPr lang="en-US" altLang="zh-CN" sz="2000"/>
              <a:t>AI</a:t>
            </a:r>
            <a:r>
              <a:rPr lang="zh-CN" altLang="en-US" sz="2000"/>
              <a:t>模型：</a:t>
            </a:r>
            <a:r>
              <a:rPr lang="en-US" altLang="zh-CN" sz="2000"/>
              <a:t>chatgpt</a:t>
            </a:r>
            <a:r>
              <a:rPr lang="zh-CN" altLang="en-US" sz="2000"/>
              <a:t>：https://chatgpt.com/</a:t>
            </a:r>
            <a:br>
              <a:rPr lang="en-US" altLang="zh-CN" sz="2000"/>
            </a:br>
            <a:r>
              <a:rPr lang="en-US" altLang="zh-CN" sz="2000"/>
              <a:t>	    VPN</a:t>
            </a:r>
            <a:r>
              <a:rPr lang="zh-CN" altLang="en-US" sz="2000"/>
              <a:t>：</a:t>
            </a:r>
            <a:r>
              <a:rPr lang="en-US" altLang="zh-CN" sz="2000"/>
              <a:t>greenode</a:t>
            </a:r>
            <a:r>
              <a:rPr lang="zh-CN" altLang="en-US" sz="2000"/>
              <a:t>：https://cp.greennode.net/</a:t>
            </a:r>
            <a:r>
              <a:rPr lang="en-US" altLang="zh-CN" sz="2000"/>
              <a:t> </a:t>
            </a:r>
            <a:endParaRPr lang="zh-CN" altLang="en-US" sz="2000"/>
          </a:p>
          <a:p>
            <a:endParaRPr lang="zh-CN" alt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 descr="截屏2026-03-15 20.52.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389630"/>
            <a:ext cx="7306945" cy="3413125"/>
          </a:xfrm>
          <a:prstGeom prst="rect">
            <a:avLst/>
          </a:prstGeom>
        </p:spPr>
      </p:pic>
      <p:pic>
        <p:nvPicPr>
          <p:cNvPr id="4" name="图片 3" descr="截屏2026-03-15 20.53.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5"/>
            <a:ext cx="5382260" cy="36461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971665" y="512445"/>
            <a:ext cx="4064000" cy="2056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目前推荐</a:t>
            </a:r>
            <a:r>
              <a:rPr lang="en-US" altLang="zh-CN"/>
              <a:t>chatgp</a:t>
            </a:r>
            <a:r>
              <a:rPr lang="zh-CN" altLang="en-US"/>
              <a:t>团队版订阅，多人使用没有封号风险，</a:t>
            </a:r>
            <a:r>
              <a:rPr lang="en-US" altLang="zh-CN"/>
              <a:t>plus</a:t>
            </a:r>
            <a:r>
              <a:rPr lang="zh-CN" altLang="en-US"/>
              <a:t>版本为个人版本风控</a:t>
            </a:r>
            <a:r>
              <a:rPr lang="zh-CN" altLang="en-US"/>
              <a:t>严重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订阅版不仅有对话和代码的能力，支持对于图片，幻灯片，报表，视频的生成，功能</a:t>
            </a:r>
            <a:r>
              <a:rPr lang="zh-CN" altLang="en-US"/>
              <a:t>更完善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306945" y="4650740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vpn</a:t>
            </a:r>
            <a:r>
              <a:rPr lang="zh-CN" altLang="en-US"/>
              <a:t>支持</a:t>
            </a:r>
            <a:r>
              <a:rPr lang="en-US" altLang="zh-CN"/>
              <a:t>PC</a:t>
            </a:r>
            <a:r>
              <a:rPr lang="zh-CN" altLang="en-US"/>
              <a:t>端和移动端，</a:t>
            </a:r>
            <a:r>
              <a:rPr lang="en-US" altLang="zh-CN"/>
              <a:t>PC</a:t>
            </a:r>
            <a:r>
              <a:rPr lang="zh-CN" altLang="en-US"/>
              <a:t>端需要去官网下载桌面版，移动端的安卓端通过应用安装使用，</a:t>
            </a:r>
            <a:r>
              <a:rPr lang="en-US" altLang="zh-CN"/>
              <a:t>iphone</a:t>
            </a:r>
            <a:r>
              <a:rPr lang="zh-CN" altLang="en-US"/>
              <a:t>端通过小火箭复制</a:t>
            </a:r>
            <a:r>
              <a:rPr lang="en-US" altLang="zh-CN"/>
              <a:t>URL</a:t>
            </a:r>
            <a:r>
              <a:rPr lang="zh-CN" altLang="en-US"/>
              <a:t>使用，且支持</a:t>
            </a:r>
            <a:r>
              <a:rPr lang="en-US" altLang="zh-CN"/>
              <a:t>socket5</a:t>
            </a:r>
            <a:r>
              <a:rPr lang="zh-CN" altLang="en-US"/>
              <a:t>，</a:t>
            </a:r>
            <a:r>
              <a:rPr lang="en-US" altLang="zh-CN"/>
              <a:t>HTTP</a:t>
            </a:r>
            <a:r>
              <a:rPr lang="zh-CN" altLang="en-US"/>
              <a:t>，</a:t>
            </a:r>
            <a:r>
              <a:rPr lang="en-US" altLang="zh-CN"/>
              <a:t>PAC</a:t>
            </a:r>
            <a:r>
              <a:rPr lang="zh-CN" altLang="en-US"/>
              <a:t>端口开放，对</a:t>
            </a:r>
            <a:r>
              <a:rPr lang="en-US" altLang="zh-CN"/>
              <a:t>openclaw</a:t>
            </a:r>
            <a:r>
              <a:rPr lang="zh-CN" altLang="en-US"/>
              <a:t>，大模型</a:t>
            </a:r>
            <a:r>
              <a:rPr lang="en-US" altLang="zh-CN"/>
              <a:t>api</a:t>
            </a:r>
            <a:r>
              <a:rPr lang="zh-CN" altLang="en-US"/>
              <a:t>调用起到配置</a:t>
            </a:r>
            <a:r>
              <a:rPr lang="zh-CN" altLang="en-US"/>
              <a:t>作用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743710" y="762635"/>
            <a:ext cx="7863840" cy="5186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/>
              <a:t>2</a:t>
            </a:r>
            <a:r>
              <a:rPr lang="zh-CN" altLang="en-US" sz="2800"/>
              <a:t>，开发环境注意事项：</a:t>
            </a:r>
            <a:endParaRPr lang="zh-CN" altLang="en-US" sz="2800"/>
          </a:p>
          <a:p>
            <a:endParaRPr lang="zh-CN" altLang="en-US" sz="2800"/>
          </a:p>
          <a:p>
            <a:pPr indent="457200"/>
            <a:r>
              <a:rPr lang="zh-CN" altLang="en-US" sz="2000"/>
              <a:t>禁止事项：禁止配置</a:t>
            </a:r>
            <a:r>
              <a:rPr lang="en-US" altLang="zh-CN" sz="2000"/>
              <a:t>python</a:t>
            </a:r>
            <a:r>
              <a:rPr lang="zh-CN" altLang="en-US" sz="2000"/>
              <a:t>虚拟环境（</a:t>
            </a:r>
            <a:r>
              <a:rPr lang="en-US" altLang="zh-CN" sz="2000"/>
              <a:t>.venv</a:t>
            </a:r>
            <a:r>
              <a:rPr lang="zh-CN" altLang="en-US" sz="2000"/>
              <a:t>）</a:t>
            </a:r>
            <a:endParaRPr lang="zh-CN" altLang="en-US" sz="2000"/>
          </a:p>
          <a:p>
            <a:pPr indent="457200"/>
            <a:endParaRPr lang="zh-CN" altLang="en-US" sz="2000"/>
          </a:p>
          <a:p>
            <a:pPr indent="457200"/>
            <a:r>
              <a:rPr lang="zh-CN" altLang="en-US" sz="2000"/>
              <a:t>统一使用</a:t>
            </a:r>
            <a:r>
              <a:rPr lang="en-US" altLang="zh-CN" sz="2000"/>
              <a:t>conda</a:t>
            </a:r>
            <a:r>
              <a:rPr lang="zh-CN" altLang="en-US" sz="2000"/>
              <a:t>配置虚拟环境，且每个项目单独创建新的虚拟环境用于隔离不同项目需要的依赖，环境包需要用</a:t>
            </a:r>
            <a:r>
              <a:rPr lang="en-US" altLang="zh-CN" sz="2000"/>
              <a:t>yml</a:t>
            </a:r>
            <a:r>
              <a:rPr lang="zh-CN" altLang="en-US" sz="2000"/>
              <a:t>的文件执行</a:t>
            </a:r>
            <a:r>
              <a:rPr lang="en-US" altLang="zh-CN" sz="2000"/>
              <a:t>conda create -f environment.yml</a:t>
            </a:r>
            <a:r>
              <a:rPr lang="zh-CN" altLang="en-US" sz="2000"/>
              <a:t>的命令去安装，每个包的</a:t>
            </a:r>
            <a:r>
              <a:rPr lang="en-US" altLang="zh-CN" sz="2000"/>
              <a:t>channel</a:t>
            </a:r>
            <a:r>
              <a:rPr lang="zh-CN" altLang="en-US" sz="2000"/>
              <a:t>设置为默认，如果下载速度慢就配置国内镜像源（如阿里，清华，淘宝等）去重新下载包，特殊环境如</a:t>
            </a:r>
            <a:r>
              <a:rPr lang="en-US" altLang="zh-CN" sz="2000"/>
              <a:t>5090</a:t>
            </a:r>
            <a:r>
              <a:rPr lang="zh-CN" altLang="en-US" sz="2000"/>
              <a:t>只有官方</a:t>
            </a:r>
            <a:r>
              <a:rPr lang="en-US" altLang="zh-CN" sz="2000"/>
              <a:t>channel</a:t>
            </a:r>
            <a:r>
              <a:rPr lang="zh-CN" altLang="en-US" sz="2000"/>
              <a:t>可下载，一般选择在早上下载速度最快（这时美国是睡觉时间，服务器闲置），</a:t>
            </a:r>
            <a:r>
              <a:rPr lang="en-US" altLang="zh-CN" sz="2000"/>
              <a:t>yml</a:t>
            </a:r>
            <a:r>
              <a:rPr lang="zh-CN" altLang="en-US" sz="2000"/>
              <a:t>文件里需要注明版本，且哪些属于</a:t>
            </a:r>
            <a:r>
              <a:rPr lang="en-US" altLang="zh-CN" sz="2000"/>
              <a:t>conda</a:t>
            </a:r>
            <a:r>
              <a:rPr lang="zh-CN" altLang="en-US" sz="2000"/>
              <a:t>，哪些属于</a:t>
            </a:r>
            <a:r>
              <a:rPr lang="en-US" altLang="zh-CN" sz="2000"/>
              <a:t>pip</a:t>
            </a:r>
            <a:r>
              <a:rPr lang="zh-CN" altLang="en-US" sz="2000"/>
              <a:t>安装</a:t>
            </a:r>
            <a:r>
              <a:rPr lang="zh-CN" altLang="en-US" sz="2000"/>
              <a:t>的</a:t>
            </a:r>
            <a:endParaRPr lang="zh-CN" altLang="en-US" sz="2000"/>
          </a:p>
          <a:p>
            <a:pPr indent="457200"/>
            <a:endParaRPr lang="zh-CN" altLang="en-US" sz="2000"/>
          </a:p>
          <a:p>
            <a:pPr indent="457200"/>
            <a:r>
              <a:rPr lang="zh-CN" altLang="en-US" sz="2000"/>
              <a:t>对于包含前后端的项目，需要用</a:t>
            </a:r>
            <a:r>
              <a:rPr lang="en-US" altLang="zh-CN" sz="2000"/>
              <a:t>docker</a:t>
            </a:r>
            <a:r>
              <a:rPr lang="zh-CN" altLang="en-US" sz="2000"/>
              <a:t>镜像封装运行，配置</a:t>
            </a:r>
            <a:r>
              <a:rPr lang="en-US" altLang="zh-CN" sz="2000"/>
              <a:t>docker</a:t>
            </a:r>
            <a:r>
              <a:rPr lang="zh-CN" altLang="en-US" sz="2000"/>
              <a:t>需要在名为</a:t>
            </a:r>
            <a:r>
              <a:rPr lang="en-US" altLang="zh-CN" sz="2000"/>
              <a:t>dockerfile</a:t>
            </a:r>
            <a:r>
              <a:rPr lang="zh-CN" altLang="en-US" sz="2000"/>
              <a:t>中配置依赖且需要说明每一个依赖的用途和</a:t>
            </a:r>
            <a:r>
              <a:rPr lang="zh-CN" altLang="en-US" sz="2000"/>
              <a:t>版本</a:t>
            </a:r>
            <a:endParaRPr lang="zh-CN" altLang="en-US" sz="2000"/>
          </a:p>
          <a:p>
            <a:pPr indent="457200"/>
            <a:endParaRPr lang="zh-CN" altLang="en-US" sz="2400"/>
          </a:p>
          <a:p>
            <a:pPr indent="457200"/>
            <a:endParaRPr lang="zh-CN" altLang="en-US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截屏2026-03-15 21.29.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20" y="139700"/>
            <a:ext cx="5285105" cy="29711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779135" y="1130935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左边的</a:t>
            </a:r>
            <a:r>
              <a:rPr lang="en-US" altLang="zh-CN"/>
              <a:t>yml</a:t>
            </a:r>
            <a:r>
              <a:rPr lang="zh-CN" altLang="en-US"/>
              <a:t>文件中比如</a:t>
            </a:r>
            <a:r>
              <a:rPr lang="en-US" altLang="zh-CN"/>
              <a:t>python</a:t>
            </a:r>
            <a:r>
              <a:rPr lang="zh-CN" altLang="en-US"/>
              <a:t>，</a:t>
            </a:r>
            <a:r>
              <a:rPr lang="en-US" altLang="zh-CN"/>
              <a:t>pytorch</a:t>
            </a:r>
            <a:r>
              <a:rPr lang="zh-CN" altLang="en-US"/>
              <a:t>等依赖冲突频繁的包必须标注版本和当前使用的操作系统，显卡型号等，必要时需要向</a:t>
            </a:r>
            <a:r>
              <a:rPr lang="zh-CN" altLang="en-US"/>
              <a:t>管理者确认相关版本</a:t>
            </a:r>
            <a:r>
              <a:rPr lang="zh-CN" altLang="en-US"/>
              <a:t>号</a:t>
            </a:r>
            <a:endParaRPr lang="zh-CN" altLang="en-US"/>
          </a:p>
        </p:txBody>
      </p:sp>
      <p:pic>
        <p:nvPicPr>
          <p:cNvPr id="6" name="图片 5" descr="截屏2026-03-15 21.33.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0" y="3110865"/>
            <a:ext cx="3666490" cy="38722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911215" y="4404360"/>
            <a:ext cx="4064000" cy="500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左侧的</a:t>
            </a:r>
            <a:r>
              <a:rPr lang="en-US" altLang="zh-CN"/>
              <a:t>dockerfile</a:t>
            </a:r>
            <a:r>
              <a:rPr lang="zh-CN" altLang="en-US"/>
              <a:t>文件里面包括包管理器，软件包，工作路径，命令行命令等都需要注名，</a:t>
            </a:r>
            <a:r>
              <a:rPr lang="en-US" altLang="zh-CN"/>
              <a:t>docker</a:t>
            </a:r>
            <a:r>
              <a:rPr lang="zh-CN" altLang="en-US"/>
              <a:t>中推荐</a:t>
            </a:r>
            <a:r>
              <a:rPr lang="en-US" altLang="zh-CN"/>
              <a:t>python</a:t>
            </a:r>
            <a:r>
              <a:rPr lang="zh-CN" altLang="en-US"/>
              <a:t>虚拟环境</a:t>
            </a:r>
            <a:r>
              <a:rPr lang="en-US" altLang="zh-CN"/>
              <a:t>.venv</a:t>
            </a:r>
            <a:r>
              <a:rPr lang="zh-CN" altLang="en-US"/>
              <a:t>，轻量便捷，</a:t>
            </a:r>
            <a:r>
              <a:rPr lang="en-US" altLang="zh-CN"/>
              <a:t>docker</a:t>
            </a:r>
            <a:r>
              <a:rPr lang="zh-CN" altLang="en-US"/>
              <a:t>本质就是一个最小的</a:t>
            </a:r>
            <a:r>
              <a:rPr lang="en-US" altLang="zh-CN"/>
              <a:t>linux</a:t>
            </a:r>
            <a:r>
              <a:rPr lang="zh-CN" altLang="en-US"/>
              <a:t>系统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46455" y="514350"/>
            <a:ext cx="10814050" cy="6176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/>
              <a:t>3</a:t>
            </a:r>
            <a:r>
              <a:rPr lang="zh-CN" altLang="en-US" sz="2800"/>
              <a:t>，代码的存储与版本理：</a:t>
            </a:r>
            <a:endParaRPr lang="zh-CN" altLang="en-US" sz="2800"/>
          </a:p>
          <a:p>
            <a:pPr indent="457200"/>
            <a:endParaRPr lang="zh-CN" altLang="en-US" sz="2800"/>
          </a:p>
          <a:p>
            <a:pPr indent="457200"/>
            <a:r>
              <a:rPr lang="en-US" altLang="zh-CN"/>
              <a:t>github</a:t>
            </a:r>
            <a:r>
              <a:rPr lang="zh-CN" altLang="en-US"/>
              <a:t>组织统一存储</a:t>
            </a:r>
            <a:r>
              <a:rPr lang="zh-CN" altLang="en-US"/>
              <a:t>地址：https://github.com/orgs/HH3f</a:t>
            </a:r>
            <a:endParaRPr lang="zh-CN" altLang="en-US"/>
          </a:p>
          <a:p>
            <a:pPr indent="457200"/>
            <a:endParaRPr lang="zh-CN" altLang="en-US"/>
          </a:p>
          <a:p>
            <a:pPr indent="457200"/>
            <a:r>
              <a:rPr lang="zh-CN" altLang="en-US"/>
              <a:t>需要团队成员提供</a:t>
            </a:r>
            <a:r>
              <a:rPr lang="en-US" altLang="zh-CN"/>
              <a:t>github</a:t>
            </a:r>
            <a:r>
              <a:rPr lang="zh-CN" altLang="en-US"/>
              <a:t>注册的邮箱用于管理者邀请进入组织的相应团队，下面是</a:t>
            </a:r>
            <a:r>
              <a:rPr lang="en-US" altLang="zh-CN"/>
              <a:t>HH3f</a:t>
            </a:r>
            <a:r>
              <a:rPr lang="zh-CN" altLang="en-US"/>
              <a:t>组织下的团队，成员根据自己项目的范围申请下面对应的团队，成员所有的代码需要在</a:t>
            </a:r>
            <a:r>
              <a:rPr lang="en-US" altLang="zh-CN"/>
              <a:t>HH3f</a:t>
            </a:r>
            <a:r>
              <a:rPr lang="zh-CN" altLang="en-US"/>
              <a:t>组织下的团队创建</a:t>
            </a:r>
            <a:r>
              <a:rPr lang="zh-CN" altLang="en-US"/>
              <a:t>代码仓库</a:t>
            </a:r>
            <a:endParaRPr lang="zh-CN" altLang="en-US"/>
          </a:p>
          <a:p>
            <a:pPr indent="457200"/>
            <a:endParaRPr lang="zh-CN" altLang="en-US"/>
          </a:p>
          <a:p>
            <a:pPr indent="457200"/>
            <a:endParaRPr lang="zh-CN" altLang="en-US"/>
          </a:p>
          <a:p>
            <a:pPr indent="457200"/>
            <a:endParaRPr lang="zh-CN" altLang="en-US"/>
          </a:p>
          <a:p>
            <a:pPr marL="457200" lvl="1" indent="457200"/>
            <a:endParaRPr lang="zh-CN" altLang="en-US"/>
          </a:p>
          <a:p>
            <a:pPr indent="457200"/>
            <a:endParaRPr lang="zh-CN" altLang="en-US"/>
          </a:p>
        </p:txBody>
      </p:sp>
      <p:pic>
        <p:nvPicPr>
          <p:cNvPr id="5" name="图片 4" descr="截屏2026-03-16 10.32.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05" y="2708275"/>
            <a:ext cx="5171440" cy="38684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516880" y="2599055"/>
            <a:ext cx="6144260" cy="3015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团队成员或者管理者在创建仓库后必须拉取分支，在分支中修改并上传代码，需要通过管理员审计或者协商后在合并到</a:t>
            </a:r>
            <a:r>
              <a:rPr lang="en-US" altLang="zh-CN"/>
              <a:t>main</a:t>
            </a:r>
            <a:r>
              <a:rPr lang="zh-CN" altLang="en-US"/>
              <a:t>分支，申请合并分支是要注名修改日期和修改的主要内容，代码审计一周进行一次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下面的</a:t>
            </a:r>
            <a:r>
              <a:rPr lang="en-US" altLang="zh-CN"/>
              <a:t>txt</a:t>
            </a:r>
            <a:r>
              <a:rPr lang="zh-CN" altLang="en-US"/>
              <a:t>文件是一些仓库的仓做指令，包括仓库的链接，拉取，上床，修改等，成员可以参考</a:t>
            </a:r>
            <a:r>
              <a:rPr lang="zh-CN" altLang="en-US"/>
              <a:t>使用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注意：在上传代码时</a:t>
            </a:r>
            <a:r>
              <a:rPr lang="en-US" altLang="zh-CN"/>
              <a:t>.gitignore</a:t>
            </a:r>
            <a:r>
              <a:rPr lang="zh-CN" altLang="en-US"/>
              <a:t>中一定要忽略数据集这样的大文件，否则可能导致数据泄漏或者上传</a:t>
            </a:r>
            <a:r>
              <a:rPr lang="zh-CN" altLang="en-US"/>
              <a:t>失败</a:t>
            </a:r>
            <a:endParaRPr lang="zh-CN" altLang="en-US"/>
          </a:p>
        </p:txBody>
      </p: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018020" y="5458460"/>
          <a:ext cx="15240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2" imgW="1524000" imgH="1524000" progId="Package">
                  <p:embed/>
                </p:oleObj>
              </mc:Choice>
              <mc:Fallback>
                <p:oleObj name="" showAsIcon="1" r:id="rId2" imgW="1524000" imgH="1524000" progId="Package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018020" y="5458460"/>
                        <a:ext cx="1524000" cy="152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 descr="截屏2026-03-16 11.19.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540" y="5458460"/>
            <a:ext cx="1792605" cy="11233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85140" y="227330"/>
            <a:ext cx="10514330" cy="6139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4</a:t>
            </a:r>
            <a:r>
              <a:rPr lang="zh-CN" altLang="en-US" sz="2000"/>
              <a:t>，</a:t>
            </a:r>
            <a:r>
              <a:rPr lang="zh-CN" altLang="en-US" sz="2800"/>
              <a:t>开发书写规范（开发成员重点注意）：</a:t>
            </a:r>
            <a:endParaRPr lang="zh-CN" altLang="en-US" sz="2800"/>
          </a:p>
          <a:p>
            <a:endParaRPr lang="zh-CN" altLang="en-US" sz="2800"/>
          </a:p>
          <a:p>
            <a:pPr indent="457200"/>
            <a:r>
              <a:rPr lang="zh-CN" altLang="en-US" sz="1600"/>
              <a:t>文件夹及文件的格式要求：根目录下只能存在两个个</a:t>
            </a:r>
            <a:r>
              <a:rPr lang="en-US" altLang="zh-CN" sz="1600"/>
              <a:t>python</a:t>
            </a:r>
            <a:r>
              <a:rPr lang="zh-CN" altLang="en-US" sz="1600"/>
              <a:t>脚本</a:t>
            </a:r>
            <a:r>
              <a:rPr lang="en-US" altLang="zh-CN" sz="1600"/>
              <a:t>main.py, config.py</a:t>
            </a:r>
            <a:r>
              <a:rPr lang="zh-CN" altLang="en-US" sz="1600"/>
              <a:t>，</a:t>
            </a:r>
            <a:r>
              <a:rPr lang="en-US" altLang="zh-CN" sz="1600"/>
              <a:t>main.py</a:t>
            </a:r>
            <a:r>
              <a:rPr lang="zh-CN" altLang="en-US" sz="1600"/>
              <a:t>为程序的主入口，其他代码根据功能存放到对应根目录的其他目录下（目录名要通俗，名字要与代码功能高度相关）</a:t>
            </a:r>
            <a:r>
              <a:rPr lang="en-US" altLang="zh-CN" sz="1600"/>
              <a:t>,</a:t>
            </a:r>
            <a:r>
              <a:rPr lang="zh-CN" altLang="en-US" sz="1600"/>
              <a:t>比如下图</a:t>
            </a:r>
            <a:r>
              <a:rPr lang="en-US" altLang="zh-CN" sz="1600"/>
              <a:t>1</a:t>
            </a:r>
            <a:r>
              <a:rPr lang="zh-CN" altLang="en-US" sz="1600"/>
              <a:t>中的</a:t>
            </a:r>
            <a:r>
              <a:rPr lang="en-US" altLang="zh-CN" sz="1600"/>
              <a:t>dataset</a:t>
            </a:r>
            <a:r>
              <a:rPr lang="zh-CN" altLang="en-US" sz="1600"/>
              <a:t>中放数据集，</a:t>
            </a:r>
            <a:r>
              <a:rPr lang="en-US" altLang="zh-CN" sz="1600"/>
              <a:t>resnet18</a:t>
            </a:r>
            <a:r>
              <a:rPr lang="zh-CN" altLang="en-US" sz="1600"/>
              <a:t>存放用于预训练的基座模型</a:t>
            </a:r>
            <a:r>
              <a:rPr lang="en-US" altLang="zh-CN" sz="1600"/>
              <a:t>teeth</a:t>
            </a:r>
            <a:r>
              <a:rPr lang="zh-CN" altLang="en-US" sz="1600"/>
              <a:t>主要处理牙齿相关的逻辑，如下图</a:t>
            </a:r>
            <a:r>
              <a:rPr lang="en-US" altLang="zh-CN" sz="1600"/>
              <a:t>2</a:t>
            </a:r>
            <a:r>
              <a:rPr lang="zh-CN" altLang="en-US" sz="1600"/>
              <a:t>中，新训练的模型放入</a:t>
            </a:r>
            <a:r>
              <a:rPr lang="en-US" altLang="zh-CN" sz="1600"/>
              <a:t>results</a:t>
            </a:r>
            <a:r>
              <a:rPr lang="zh-CN" altLang="en-US" sz="1600"/>
              <a:t>，训练结果与分析放入</a:t>
            </a:r>
            <a:r>
              <a:rPr lang="en-US" altLang="zh-CN" sz="1600"/>
              <a:t>result</a:t>
            </a:r>
            <a:r>
              <a:rPr lang="zh-CN" altLang="en-US" sz="1600"/>
              <a:t>，代码则在主目录下即可</a:t>
            </a:r>
            <a:endParaRPr lang="zh-CN" altLang="en-US" sz="2800"/>
          </a:p>
          <a:p>
            <a:endParaRPr lang="zh-CN" altLang="en-US" sz="2800"/>
          </a:p>
        </p:txBody>
      </p:sp>
      <p:pic>
        <p:nvPicPr>
          <p:cNvPr id="5" name="图片 4" descr="截屏2026-03-16 11.13.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435" y="2280920"/>
            <a:ext cx="3581400" cy="3926840"/>
          </a:xfrm>
          <a:prstGeom prst="rect">
            <a:avLst/>
          </a:prstGeom>
        </p:spPr>
      </p:pic>
      <p:pic>
        <p:nvPicPr>
          <p:cNvPr id="6" name="图片 5" descr="截屏2026-03-16 11.16.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245" y="2669540"/>
            <a:ext cx="4503420" cy="3009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 descr="截屏2026-03-16 11.21.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20" y="5255260"/>
            <a:ext cx="7925435" cy="15284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0" y="0"/>
            <a:ext cx="11793220" cy="65817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>
                <a:sym typeface="+mn-ea"/>
              </a:rPr>
              <a:t>4</a:t>
            </a:r>
            <a:r>
              <a:rPr lang="zh-CN" altLang="en-US" sz="2800">
                <a:sym typeface="+mn-ea"/>
              </a:rPr>
              <a:t>，开发书写规范（开发成员重点注意）：</a:t>
            </a:r>
            <a:endParaRPr lang="en-US" altLang="zh-CN" sz="2800">
              <a:sym typeface="+mn-ea"/>
            </a:endParaRPr>
          </a:p>
          <a:p>
            <a:endParaRPr lang="en-US" altLang="zh-CN">
              <a:sym typeface="+mn-ea"/>
            </a:endParaRPr>
          </a:p>
          <a:p>
            <a:pPr indent="457200"/>
            <a:r>
              <a:rPr lang="en-US" altLang="zh-CN">
                <a:sym typeface="+mn-ea"/>
              </a:rPr>
              <a:t>main.py </a:t>
            </a:r>
            <a:r>
              <a:rPr lang="zh-CN" altLang="en-US">
                <a:sym typeface="+mn-ea"/>
              </a:rPr>
              <a:t>作为程序主入口主打简洁，复杂的逻辑计算采取文件调用的方式，比如下图</a:t>
            </a:r>
            <a:r>
              <a:rPr lang="en-US" altLang="zh-CN">
                <a:sym typeface="+mn-ea"/>
              </a:rPr>
              <a:t>config</a:t>
            </a:r>
            <a:r>
              <a:rPr lang="zh-CN" altLang="en-US">
                <a:sym typeface="+mn-ea"/>
              </a:rPr>
              <a:t>，FrontSideProfile.face_analyzer，teeth.teeth_analyzer都是从其他目录中的</a:t>
            </a:r>
            <a:r>
              <a:rPr lang="en-US" altLang="zh-CN">
                <a:sym typeface="+mn-ea"/>
              </a:rPr>
              <a:t>python</a:t>
            </a:r>
            <a:r>
              <a:rPr lang="zh-CN" altLang="en-US">
                <a:sym typeface="+mn-ea"/>
              </a:rPr>
              <a:t>文件导入的函数，用于实现复杂逻辑，这样的方式便于代码的修改和管理</a:t>
            </a:r>
            <a:endParaRPr lang="zh-CN" altLang="en-US">
              <a:sym typeface="+mn-ea"/>
            </a:endParaRPr>
          </a:p>
          <a:p>
            <a:pPr indent="457200"/>
            <a:r>
              <a:rPr lang="en-US" altLang="zh-CN">
                <a:sym typeface="+mn-ea"/>
              </a:rPr>
              <a:t>config.py</a:t>
            </a:r>
            <a:r>
              <a:rPr lang="zh-CN" altLang="en-US">
                <a:sym typeface="+mn-ea"/>
              </a:rPr>
              <a:t>主要是加载一些文件路径，可复用参数和高频可修改参数，比如在模型训练时需要不断调节相关参数和文件路径如下图，需要按照这样的格式用类封装，需要注释参数主要来自那个文件，开头要求需要设置当前脚本的绝对路径BASE_DIR = os.path.dirname(os.path.abspath(__file__))，</a:t>
            </a:r>
            <a:r>
              <a:rPr lang="en-US" altLang="zh-CN">
                <a:sym typeface="+mn-ea"/>
              </a:rPr>
              <a:t>windows</a:t>
            </a:r>
            <a:r>
              <a:rPr lang="zh-CN" altLang="en-US">
                <a:sym typeface="+mn-ea"/>
              </a:rPr>
              <a:t>的操作系统与</a:t>
            </a:r>
            <a:r>
              <a:rPr lang="en-US" altLang="zh-CN">
                <a:sym typeface="+mn-ea"/>
              </a:rPr>
              <a:t>linux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mac</a:t>
            </a:r>
            <a:r>
              <a:rPr lang="zh-CN" altLang="en-US">
                <a:sym typeface="+mn-ea"/>
              </a:rPr>
              <a:t>在读取文件时有有很大区别，会频繁出现路径找不到的问题采用</a:t>
            </a:r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RESNET_MODEL_DIR = os.path.join(BASE_DIR,"Resnet18")这种</a:t>
            </a:r>
            <a:r>
              <a:rPr lang="zh-CN" altLang="en-US">
                <a:sym typeface="+mn-ea"/>
              </a:rPr>
              <a:t>绝对</a:t>
            </a:r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路径拼接的方式可以消除不同操作系统下的路径报错</a:t>
            </a:r>
            <a:r>
              <a:rPr lang="zh-CN" altLang="en-US">
                <a:sym typeface="+mn-ea"/>
              </a:rPr>
              <a:t>问题</a:t>
            </a:r>
            <a:endParaRPr lang="zh-CN" altLang="en-US"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注意：</a:t>
            </a:r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 对于</a:t>
            </a:r>
            <a:r>
              <a:rPr lang="en-US" altLang="zh-CN">
                <a:sym typeface="+mn-ea"/>
              </a:rPr>
              <a:t>API</a:t>
            </a:r>
            <a:r>
              <a:rPr lang="zh-CN" altLang="en-US">
                <a:sym typeface="+mn-ea"/>
              </a:rPr>
              <a:t>密钥，或者数据库密码等这种隐私类的</a:t>
            </a:r>
            <a:r>
              <a:rPr lang="en-US" altLang="zh-CN">
                <a:sym typeface="+mn-ea"/>
              </a:rPr>
              <a:t>token</a:t>
            </a:r>
            <a:r>
              <a:rPr lang="zh-CN" altLang="en-US">
                <a:sym typeface="+mn-ea"/>
              </a:rPr>
              <a:t>，需要在根目录</a:t>
            </a:r>
            <a:r>
              <a:rPr lang="zh-CN" altLang="en-US">
                <a:sym typeface="+mn-ea"/>
              </a:rPr>
              <a:t>中</a:t>
            </a:r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创建一个</a:t>
            </a:r>
            <a:r>
              <a:rPr lang="en-US" altLang="zh-CN">
                <a:sym typeface="+mn-ea"/>
              </a:rPr>
              <a:t>.env</a:t>
            </a:r>
            <a:r>
              <a:rPr lang="zh-CN" altLang="en-US">
                <a:sym typeface="+mn-ea"/>
              </a:rPr>
              <a:t>的文件，里面存放密钥，这是为了防止将代码发给</a:t>
            </a:r>
            <a:r>
              <a:rPr lang="en-US" altLang="zh-CN">
                <a:sym typeface="+mn-ea"/>
              </a:rPr>
              <a:t>AI</a:t>
            </a:r>
            <a:r>
              <a:rPr lang="zh-CN" altLang="en-US">
                <a:sym typeface="+mn-ea"/>
              </a:rPr>
              <a:t>修改是</a:t>
            </a:r>
            <a:r>
              <a:rPr lang="zh-CN" altLang="en-US">
                <a:sym typeface="+mn-ea"/>
              </a:rPr>
              <a:t>引起</a:t>
            </a:r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隐私泄漏，加载方式</a:t>
            </a:r>
            <a:r>
              <a:rPr lang="zh-CN" altLang="en-US">
                <a:sym typeface="+mn-ea"/>
              </a:rPr>
              <a:t>采用load_dotenv()</a:t>
            </a:r>
            <a:endParaRPr lang="zh-CN" altLang="en-US"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pPr indent="457200"/>
            <a:r>
              <a:rPr lang="zh-CN" altLang="en-US">
                <a:sym typeface="+mn-ea"/>
              </a:rPr>
              <a:t>API_KEY = os.environ.get("Z_API_KEY")的方式加载</a:t>
            </a:r>
            <a:r>
              <a:rPr lang="zh-CN" altLang="en-US">
                <a:sym typeface="+mn-ea"/>
              </a:rPr>
              <a:t>密钥</a:t>
            </a:r>
            <a:endParaRPr lang="zh-CN" altLang="en-US"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endParaRPr lang="zh-CN" altLang="en-US"/>
          </a:p>
        </p:txBody>
      </p:sp>
      <p:pic>
        <p:nvPicPr>
          <p:cNvPr id="5" name="图片 4" descr="截屏2026-03-16 11.28.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0550" y="2691130"/>
            <a:ext cx="3980815" cy="40925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23520" y="153670"/>
            <a:ext cx="11871960" cy="6618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>
                <a:sym typeface="+mn-ea"/>
              </a:rPr>
              <a:t>4</a:t>
            </a:r>
            <a:r>
              <a:rPr lang="zh-CN" altLang="en-US" sz="3200">
                <a:sym typeface="+mn-ea"/>
              </a:rPr>
              <a:t>，开发书写规范（开发成员重点注意）：</a:t>
            </a:r>
            <a:endParaRPr lang="zh-CN" altLang="en-US" sz="3200">
              <a:sym typeface="+mn-ea"/>
            </a:endParaRPr>
          </a:p>
          <a:p>
            <a:pPr marL="457200" lvl="1" indent="457200"/>
            <a:r>
              <a:rPr lang="zh-CN" altLang="en-US" sz="2000">
                <a:sym typeface="+mn-ea"/>
              </a:rPr>
              <a:t>对于项目中的具体某个功能，必须采用类（</a:t>
            </a:r>
            <a:r>
              <a:rPr lang="en-US" altLang="zh-CN" sz="2000">
                <a:sym typeface="+mn-ea"/>
              </a:rPr>
              <a:t>class)</a:t>
            </a:r>
            <a:r>
              <a:rPr lang="zh-CN" altLang="en-US" sz="2000">
                <a:sym typeface="+mn-ea"/>
              </a:rPr>
              <a:t>和函数</a:t>
            </a:r>
            <a:r>
              <a:rPr lang="en-US" altLang="zh-CN" sz="2000">
                <a:sym typeface="+mn-ea"/>
              </a:rPr>
              <a:t>(def)</a:t>
            </a:r>
            <a:r>
              <a:rPr lang="zh-CN" altLang="en-US" sz="2000">
                <a:sym typeface="+mn-ea"/>
              </a:rPr>
              <a:t>的封装，并且函数必须含有返回值</a:t>
            </a:r>
            <a:r>
              <a:rPr lang="en-US" altLang="zh-CN" sz="2000">
                <a:sym typeface="+mn-ea"/>
              </a:rPr>
              <a:t>,</a:t>
            </a:r>
            <a:r>
              <a:rPr lang="zh-CN" altLang="en-US" sz="2000">
                <a:sym typeface="+mn-ea"/>
              </a:rPr>
              <a:t>且函数下面必须附有传入参数介绍和返回参数介绍，相当于定义好函数的接口，方便项目对接和重构操作，类的</a:t>
            </a:r>
            <a:r>
              <a:rPr lang="en-US" altLang="zh-CN" sz="2000">
                <a:sym typeface="+mn-ea"/>
              </a:rPr>
              <a:t>init</a:t>
            </a:r>
            <a:r>
              <a:rPr lang="zh-CN" altLang="en-US" sz="2000">
                <a:sym typeface="+mn-ea"/>
              </a:rPr>
              <a:t>函数下的参数属于类的私有属性，一般用来初始化</a:t>
            </a:r>
            <a:r>
              <a:rPr lang="en-US" altLang="zh-CN" sz="2000">
                <a:sym typeface="+mn-ea"/>
              </a:rPr>
              <a:t>config</a:t>
            </a:r>
            <a:r>
              <a:rPr lang="zh-CN" altLang="en-US" sz="2000">
                <a:sym typeface="+mn-ea"/>
              </a:rPr>
              <a:t>文件中的外部资源，比如文件路径，模型等，需要在外部进行修改的参数，开发者需要严格按照该格式书写</a:t>
            </a:r>
            <a:r>
              <a:rPr lang="zh-CN" altLang="en-US" sz="2000">
                <a:sym typeface="+mn-ea"/>
              </a:rPr>
              <a:t>代码</a:t>
            </a:r>
            <a:endParaRPr lang="zh-CN" altLang="en-US" sz="2000">
              <a:sym typeface="+mn-ea"/>
            </a:endParaRPr>
          </a:p>
        </p:txBody>
      </p:sp>
      <p:pic>
        <p:nvPicPr>
          <p:cNvPr id="6" name="图片 5" descr="截屏2026-03-16 11.42.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93595"/>
            <a:ext cx="4714875" cy="4764405"/>
          </a:xfrm>
          <a:prstGeom prst="rect">
            <a:avLst/>
          </a:prstGeom>
        </p:spPr>
      </p:pic>
      <p:pic>
        <p:nvPicPr>
          <p:cNvPr id="7" name="图片 6" descr="截屏2026-03-16 11.43.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2092960"/>
            <a:ext cx="4281170" cy="4765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20980" y="148590"/>
            <a:ext cx="11848465" cy="65233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3200">
                <a:sym typeface="+mn-ea"/>
              </a:rPr>
              <a:t>4</a:t>
            </a:r>
            <a:r>
              <a:rPr lang="zh-CN" altLang="en-US" sz="3200">
                <a:sym typeface="+mn-ea"/>
              </a:rPr>
              <a:t>，开发书写规范（开发成员重点注意）：</a:t>
            </a:r>
            <a:endParaRPr lang="zh-CN" altLang="en-US" sz="3200">
              <a:sym typeface="+mn-ea"/>
            </a:endParaRPr>
          </a:p>
          <a:p>
            <a:pPr marL="457200" lvl="1" indent="457200"/>
            <a:endParaRPr lang="zh-CN" altLang="en-US" sz="2000">
              <a:sym typeface="+mn-ea"/>
            </a:endParaRPr>
          </a:p>
          <a:p>
            <a:pPr marL="457200" lvl="1" indent="457200"/>
            <a:r>
              <a:rPr lang="zh-CN" altLang="en-US" sz="2000">
                <a:sym typeface="+mn-ea"/>
              </a:rPr>
              <a:t>最后就是对于整个项目的总结与介绍部分，开发者必须在根目录创建</a:t>
            </a:r>
            <a:r>
              <a:rPr lang="en-US" altLang="zh-CN" sz="2000">
                <a:sym typeface="+mn-ea"/>
              </a:rPr>
              <a:t>.md</a:t>
            </a:r>
            <a:r>
              <a:rPr lang="zh-CN" altLang="en-US" sz="2000">
                <a:sym typeface="+mn-ea"/>
              </a:rPr>
              <a:t>的文件，里面主要是对项目的一个介绍和启动项目的一些</a:t>
            </a:r>
            <a:r>
              <a:rPr lang="en-US" altLang="zh-CN" sz="2000">
                <a:sym typeface="+mn-ea"/>
              </a:rPr>
              <a:t>bash</a:t>
            </a:r>
            <a:r>
              <a:rPr lang="zh-CN" altLang="en-US" sz="2000">
                <a:sym typeface="+mn-ea"/>
              </a:rPr>
              <a:t>指令，方便第一次接触项目的开发者快速运行上手，包括环境的安装，需要什么外部依赖，具体的操作系统，代码的介绍，代码的结构目录</a:t>
            </a:r>
            <a:r>
              <a:rPr lang="zh-CN" altLang="en-US" sz="2000">
                <a:sym typeface="+mn-ea"/>
              </a:rPr>
              <a:t>和运行流程</a:t>
            </a:r>
            <a:r>
              <a:rPr lang="zh-CN" altLang="en-US" sz="2000">
                <a:sym typeface="+mn-ea"/>
              </a:rPr>
              <a:t>等</a:t>
            </a:r>
            <a:endParaRPr lang="zh-CN" altLang="en-US" sz="2000">
              <a:sym typeface="+mn-ea"/>
            </a:endParaRPr>
          </a:p>
        </p:txBody>
      </p:sp>
      <p:pic>
        <p:nvPicPr>
          <p:cNvPr id="5" name="图片 4" descr="截屏2026-03-16 11.50.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890" y="1927225"/>
            <a:ext cx="5701030" cy="4744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3091</Words>
  <Application>WPS 演示</Application>
  <PresentationFormat>宽屏</PresentationFormat>
  <Paragraphs>89</Paragraphs>
  <Slides>10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汉仪书宋二KW</vt:lpstr>
      <vt:lpstr>Calibri</vt:lpstr>
      <vt:lpstr>Helvetica Neue</vt:lpstr>
      <vt:lpstr>微软雅黑</vt:lpstr>
      <vt:lpstr>汉仪旗黑</vt:lpstr>
      <vt:lpstr>宋体</vt:lpstr>
      <vt:lpstr>Arial Unicode MS</vt:lpstr>
      <vt:lpstr>WPS</vt:lpstr>
      <vt:lpstr>Package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王粒安</cp:lastModifiedBy>
  <cp:revision>17</cp:revision>
  <dcterms:created xsi:type="dcterms:W3CDTF">2026-03-16T03:53:10Z</dcterms:created>
  <dcterms:modified xsi:type="dcterms:W3CDTF">2026-03-16T03:53:10Z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2052-6.5.0.8619</vt:lpwstr>
  </property>
  <property fmtid="{D5CDD505-2E9C-101B-9397-08002B2CF9AE}" pid="3" name="ICV">
    <vt:lpwstr>E05C3CEED7422C01CDA4B669CE8B406A_41</vt:lpwstr>
  </property>
</Properties>
</file>